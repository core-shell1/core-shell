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7556500" cy="10693400"/>
  <p:notesSz cx="6858000" cy="9144000"/>
  <p:embeddedFontLst>
    <p:embeddedFont>
      <p:font typeface="Neue Montreal" charset="1" panose="00000400000000000000"/>
      <p:regular r:id="rId14"/>
    </p:embeddedFont>
    <p:embeddedFont>
      <p:font typeface="Open Sans Light" charset="1" panose="00000000000000000000"/>
      <p:regular r:id="rId15"/>
    </p:embeddedFont>
    <p:embeddedFont>
      <p:font typeface="Neue Montreal Bold" charset="1" panose="000004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0780" y="8599829"/>
            <a:ext cx="7961560" cy="2268000"/>
            <a:chOff x="0" y="0"/>
            <a:chExt cx="2853243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3243" cy="812800"/>
            </a:xfrm>
            <a:custGeom>
              <a:avLst/>
              <a:gdLst/>
              <a:ahLst/>
              <a:cxnLst/>
              <a:rect r="r" b="b" t="t" l="l"/>
              <a:pathLst>
                <a:path h="812800" w="2853243">
                  <a:moveTo>
                    <a:pt x="0" y="0"/>
                  </a:moveTo>
                  <a:lnTo>
                    <a:pt x="2853243" y="0"/>
                  </a:lnTo>
                  <a:lnTo>
                    <a:pt x="285324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D1A26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853243" cy="81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31163" y="9071544"/>
            <a:ext cx="1137674" cy="1049024"/>
          </a:xfrm>
          <a:custGeom>
            <a:avLst/>
            <a:gdLst/>
            <a:ahLst/>
            <a:cxnLst/>
            <a:rect r="r" b="b" t="t" l="l"/>
            <a:pathLst>
              <a:path h="1049024" w="1137674">
                <a:moveTo>
                  <a:pt x="0" y="0"/>
                </a:moveTo>
                <a:lnTo>
                  <a:pt x="1137674" y="0"/>
                </a:lnTo>
                <a:lnTo>
                  <a:pt x="1137674" y="1049024"/>
                </a:lnTo>
                <a:lnTo>
                  <a:pt x="0" y="1049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3960000" y="8120872"/>
            <a:ext cx="2950368" cy="2950368"/>
          </a:xfrm>
          <a:custGeom>
            <a:avLst/>
            <a:gdLst/>
            <a:ahLst/>
            <a:cxnLst/>
            <a:rect r="r" b="b" t="t" l="l"/>
            <a:pathLst>
              <a:path h="2950368" w="2950368">
                <a:moveTo>
                  <a:pt x="0" y="0"/>
                </a:moveTo>
                <a:lnTo>
                  <a:pt x="2950368" y="0"/>
                </a:lnTo>
                <a:lnTo>
                  <a:pt x="2950368" y="2950367"/>
                </a:lnTo>
                <a:lnTo>
                  <a:pt x="0" y="29503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720000" y="2472330"/>
            <a:ext cx="6260660" cy="2693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sz="960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</a:t>
            </a:r>
          </a:p>
          <a:p>
            <a:pPr algn="l">
              <a:lnSpc>
                <a:spcPts val="10560"/>
              </a:lnSpc>
            </a:pPr>
            <a:r>
              <a:rPr lang="en-US" sz="960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분석 보고서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2840824"/>
            <a:ext cx="8094318" cy="3402308"/>
            <a:chOff x="0" y="0"/>
            <a:chExt cx="2900821" cy="12193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1219310"/>
            </a:xfrm>
            <a:custGeom>
              <a:avLst/>
              <a:gdLst/>
              <a:ahLst/>
              <a:cxnLst/>
              <a:rect r="r" b="b" t="t" l="l"/>
              <a:pathLst>
                <a:path h="121931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219310"/>
                  </a:lnTo>
                  <a:lnTo>
                    <a:pt x="0" y="121931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1219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7684122" cy="2840824"/>
            <a:chOff x="0" y="0"/>
            <a:chExt cx="2753816" cy="10180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53816" cy="1018087"/>
            </a:xfrm>
            <a:custGeom>
              <a:avLst/>
              <a:gdLst/>
              <a:ahLst/>
              <a:cxnLst/>
              <a:rect r="r" b="b" t="t" l="l"/>
              <a:pathLst>
                <a:path h="1018087" w="2753816">
                  <a:moveTo>
                    <a:pt x="0" y="0"/>
                  </a:moveTo>
                  <a:lnTo>
                    <a:pt x="2753816" y="0"/>
                  </a:lnTo>
                  <a:lnTo>
                    <a:pt x="2753816" y="1018087"/>
                  </a:lnTo>
                  <a:lnTo>
                    <a:pt x="0" y="1018087"/>
                  </a:lnTo>
                  <a:close/>
                </a:path>
              </a:pathLst>
            </a:custGeom>
            <a:solidFill>
              <a:srgbClr val="0D1A26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753816" cy="1018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27324" y="1660950"/>
            <a:ext cx="6705352" cy="47625"/>
          </a:xfrm>
          <a:custGeom>
            <a:avLst/>
            <a:gdLst/>
            <a:ahLst/>
            <a:cxnLst/>
            <a:rect r="r" b="b" t="t" l="l"/>
            <a:pathLst>
              <a:path h="47625" w="6705352">
                <a:moveTo>
                  <a:pt x="0" y="0"/>
                </a:moveTo>
                <a:lnTo>
                  <a:pt x="6705352" y="0"/>
                </a:lnTo>
                <a:lnTo>
                  <a:pt x="6705352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394" r="0" b="0"/>
            </a:stretch>
          </a:blipFill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427324" y="3649758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3" id="13"/>
          <p:cNvSpPr/>
          <p:nvPr/>
        </p:nvSpPr>
        <p:spPr>
          <a:xfrm>
            <a:off x="427324" y="8264208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4" id="14"/>
          <p:cNvSpPr/>
          <p:nvPr/>
        </p:nvSpPr>
        <p:spPr>
          <a:xfrm>
            <a:off x="427324" y="5922104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15" id="15"/>
          <p:cNvSpPr txBox="true"/>
          <p:nvPr/>
        </p:nvSpPr>
        <p:spPr>
          <a:xfrm rot="0">
            <a:off x="3892113" y="528607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순위</a:t>
            </a:r>
          </a:p>
        </p:txBody>
      </p:sp>
      <p:sp>
        <p:nvSpPr>
          <p:cNvPr name="AutoShape 16" id="16"/>
          <p:cNvSpPr/>
          <p:nvPr/>
        </p:nvSpPr>
        <p:spPr>
          <a:xfrm>
            <a:off x="427324" y="4446609"/>
            <a:ext cx="6705352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7" id="17"/>
          <p:cNvSpPr/>
          <p:nvPr/>
        </p:nvSpPr>
        <p:spPr>
          <a:xfrm>
            <a:off x="427324" y="6689448"/>
            <a:ext cx="6705352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8" id="18"/>
          <p:cNvSpPr/>
          <p:nvPr/>
        </p:nvSpPr>
        <p:spPr>
          <a:xfrm>
            <a:off x="427324" y="5161237"/>
            <a:ext cx="6705352" cy="0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9" id="19"/>
          <p:cNvSpPr/>
          <p:nvPr/>
        </p:nvSpPr>
        <p:spPr>
          <a:xfrm>
            <a:off x="4021956" y="5322966"/>
            <a:ext cx="0" cy="341963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20" id="20"/>
          <p:cNvSpPr/>
          <p:nvPr/>
        </p:nvSpPr>
        <p:spPr>
          <a:xfrm>
            <a:off x="3947476" y="6970436"/>
            <a:ext cx="0" cy="341963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21" id="21"/>
          <p:cNvSpPr/>
          <p:nvPr/>
        </p:nvSpPr>
        <p:spPr>
          <a:xfrm>
            <a:off x="4021956" y="6085548"/>
            <a:ext cx="0" cy="341963"/>
          </a:xfrm>
          <a:prstGeom prst="line">
            <a:avLst/>
          </a:prstGeom>
          <a:ln cap="flat" w="95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22" id="22"/>
          <p:cNvSpPr/>
          <p:nvPr/>
        </p:nvSpPr>
        <p:spPr>
          <a:xfrm flipH="false" flipV="false" rot="0">
            <a:off x="359620" y="8416608"/>
            <a:ext cx="6840760" cy="2134837"/>
          </a:xfrm>
          <a:custGeom>
            <a:avLst/>
            <a:gdLst/>
            <a:ahLst/>
            <a:cxnLst/>
            <a:rect r="r" b="b" t="t" l="l"/>
            <a:pathLst>
              <a:path h="2134837" w="6840760">
                <a:moveTo>
                  <a:pt x="0" y="0"/>
                </a:moveTo>
                <a:lnTo>
                  <a:pt x="6840760" y="0"/>
                </a:lnTo>
                <a:lnTo>
                  <a:pt x="6840760" y="2134837"/>
                </a:lnTo>
                <a:lnTo>
                  <a:pt x="0" y="21348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3" id="23"/>
          <p:cNvGrpSpPr/>
          <p:nvPr/>
        </p:nvGrpSpPr>
        <p:grpSpPr>
          <a:xfrm rot="0">
            <a:off x="249078" y="2260659"/>
            <a:ext cx="7061844" cy="249074"/>
            <a:chOff x="0" y="0"/>
            <a:chExt cx="9415792" cy="332099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솔직한 마케팅 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377136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김리안 지점장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756238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010-5641-1803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60000" y="92107"/>
            <a:ext cx="5400000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6399">
                <a:solidFill>
                  <a:srgbClr val="E1E1E1"/>
                </a:solidFill>
                <a:latin typeface="Neue Montreal"/>
                <a:ea typeface="Neue Montreal"/>
                <a:cs typeface="Neue Montreal"/>
                <a:sym typeface="Neue Montreal"/>
              </a:rPr>
              <a:t> 포에트리헤어 분석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7324" y="3202774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의뢰 업체 정보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7324" y="7817223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가망 고객 분석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8113" y="387596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https://map.naver.com/p/search/%ED%8F%AC%EC%97%90%ED%8A%B8%EB%A6%AC%20%ED%97%A4%EC%96%B4/place/2014608715?c=15.00,0,0,0,dh&amp;isCorrectAnswer=true&amp;placePath=/home?from=map&amp;fromPanelNum=1&amp;additionalHeight=76&amp;timestamp=202603251312&amp;locale=ko&amp;svcName=map_pcv5&amp;searchText=%ED%8F%AC%EC%97%90%ED%8A%B8%EB%A6%AC%20%ED%97%A4%EC%96%B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94711" y="3954297"/>
            <a:ext cx="3809289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Hours a week spent doing automable jobs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68113" y="4717941"/>
            <a:ext cx="5935887" cy="301438"/>
            <a:chOff x="0" y="0"/>
            <a:chExt cx="7914516" cy="401917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-57150"/>
              <a:ext cx="2076836" cy="459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66"/>
                </a:lnSpc>
              </a:pPr>
              <a:r>
                <a:rPr lang="en-US" sz="1977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주소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835463" y="79736"/>
              <a:ext cx="5079053" cy="281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>
                  <a:solidFill>
                    <a:srgbClr val="000000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Hours a week spent doing automable jobs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868113" y="528607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키워드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93633" y="6933548"/>
            <a:ext cx="172636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필요항목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68113" y="6048661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키워드 조회수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842944" y="6933548"/>
            <a:ext cx="1557627" cy="35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6"/>
              </a:lnSpc>
            </a:pPr>
            <a:r>
              <a:rPr lang="en-US" sz="1977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seo 최적화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700000" y="5364407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미용실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700000" y="7011877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포에트리 미용실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700000" y="6126989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PC : 0회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302944" y="6126989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모바일 : 0회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906819" y="6113592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전체 : 0회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724000" y="5364407"/>
            <a:ext cx="1080000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6위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2383624"/>
            <a:ext cx="8094318" cy="3859508"/>
            <a:chOff x="0" y="0"/>
            <a:chExt cx="2900821" cy="13831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1383161"/>
            </a:xfrm>
            <a:custGeom>
              <a:avLst/>
              <a:gdLst/>
              <a:ahLst/>
              <a:cxnLst/>
              <a:rect r="r" b="b" t="t" l="l"/>
              <a:pathLst>
                <a:path h="1383161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383161"/>
                  </a:lnTo>
                  <a:lnTo>
                    <a:pt x="0" y="138316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1383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7684122" cy="2383624"/>
            <a:chOff x="0" y="0"/>
            <a:chExt cx="2753816" cy="8542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53816" cy="854237"/>
            </a:xfrm>
            <a:custGeom>
              <a:avLst/>
              <a:gdLst/>
              <a:ahLst/>
              <a:cxnLst/>
              <a:rect r="r" b="b" t="t" l="l"/>
              <a:pathLst>
                <a:path h="854237" w="2753816">
                  <a:moveTo>
                    <a:pt x="0" y="0"/>
                  </a:moveTo>
                  <a:lnTo>
                    <a:pt x="2753816" y="0"/>
                  </a:lnTo>
                  <a:lnTo>
                    <a:pt x="2753816" y="854237"/>
                  </a:lnTo>
                  <a:lnTo>
                    <a:pt x="0" y="854237"/>
                  </a:lnTo>
                  <a:close/>
                </a:path>
              </a:pathLst>
            </a:custGeom>
            <a:solidFill>
              <a:srgbClr val="0D1A26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753816" cy="854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27324" y="1286824"/>
            <a:ext cx="6705352" cy="47625"/>
          </a:xfrm>
          <a:custGeom>
            <a:avLst/>
            <a:gdLst/>
            <a:ahLst/>
            <a:cxnLst/>
            <a:rect r="r" b="b" t="t" l="l"/>
            <a:pathLst>
              <a:path h="47625" w="6705352">
                <a:moveTo>
                  <a:pt x="0" y="0"/>
                </a:moveTo>
                <a:lnTo>
                  <a:pt x="6705352" y="0"/>
                </a:lnTo>
                <a:lnTo>
                  <a:pt x="6705352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394" r="0" b="0"/>
            </a:stretch>
          </a:blipFill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427324" y="3037768"/>
            <a:ext cx="6705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01165" y="3666418"/>
          <a:ext cx="5564071" cy="6602828"/>
        </p:xfrm>
        <a:graphic>
          <a:graphicData uri="http://schemas.openxmlformats.org/drawingml/2006/table">
            <a:tbl>
              <a:tblPr/>
              <a:tblGrid>
                <a:gridCol w="2782035"/>
                <a:gridCol w="2782035"/>
              </a:tblGrid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6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  <a:tr h="8253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8"/>
                        </a:lnSpc>
                        <a:defRPr/>
                      </a:pPr>
                      <a:endParaRPr lang="en-US" sz="1100"/>
                    </a:p>
                  </a:txBody>
                  <a:tcPr marL="104655" marR="104655" marT="104655" marB="104655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044"/>
                    </a:solidFill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249078" y="1696399"/>
            <a:ext cx="7061844" cy="249074"/>
            <a:chOff x="0" y="0"/>
            <a:chExt cx="9415792" cy="332099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솔직한 마케팅 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377136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김리안 지점장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756238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010-5641-1803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60000" y="186760"/>
            <a:ext cx="4860000" cy="897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5"/>
              </a:lnSpc>
            </a:pPr>
            <a:r>
              <a:rPr lang="en-US" sz="4937">
                <a:solidFill>
                  <a:srgbClr val="E1E1E1"/>
                </a:solidFill>
                <a:latin typeface="Neue Montreal"/>
                <a:ea typeface="Neue Montreal"/>
                <a:cs typeface="Neue Montreal"/>
                <a:sym typeface="Neue Montreal"/>
              </a:rPr>
              <a:t> 포에트리헤어 노출전략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6436" y="3685707"/>
            <a:ext cx="2311607" cy="53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3"/>
              </a:lnSpc>
            </a:pPr>
            <a:r>
              <a:rPr lang="en-US" b="true" sz="2935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확장 키워드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7106" y="4635184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레이어드컷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0000" y="544980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셋팅펌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0000" y="625148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열펌전문가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0000" y="7111506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애쉬브라운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0000" y="796905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레이어드펌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0000" y="877896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-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0000" y="9636512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-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91497" y="4635184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44391" y="544980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44391" y="625148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244391" y="7111506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244391" y="7969050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244391" y="8778969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-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244391" y="9636512"/>
            <a:ext cx="1970267" cy="45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2"/>
              </a:lnSpc>
            </a:pPr>
            <a:r>
              <a:rPr lang="en-US" sz="2501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-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068161" y="3685707"/>
            <a:ext cx="2311607" cy="53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3"/>
              </a:lnSpc>
            </a:pPr>
            <a:r>
              <a:rPr lang="en-US" sz="2935" b="true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검색량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2383624"/>
            <a:ext cx="8094318" cy="3859508"/>
            <a:chOff x="0" y="0"/>
            <a:chExt cx="2900821" cy="138316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1383161"/>
            </a:xfrm>
            <a:custGeom>
              <a:avLst/>
              <a:gdLst/>
              <a:ahLst/>
              <a:cxnLst/>
              <a:rect r="r" b="b" t="t" l="l"/>
              <a:pathLst>
                <a:path h="1383161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383161"/>
                  </a:lnTo>
                  <a:lnTo>
                    <a:pt x="0" y="1383161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1383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7684122" cy="2383624"/>
            <a:chOff x="0" y="0"/>
            <a:chExt cx="2753816" cy="8542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53816" cy="854237"/>
            </a:xfrm>
            <a:custGeom>
              <a:avLst/>
              <a:gdLst/>
              <a:ahLst/>
              <a:cxnLst/>
              <a:rect r="r" b="b" t="t" l="l"/>
              <a:pathLst>
                <a:path h="854237" w="2753816">
                  <a:moveTo>
                    <a:pt x="0" y="0"/>
                  </a:moveTo>
                  <a:lnTo>
                    <a:pt x="2753816" y="0"/>
                  </a:lnTo>
                  <a:lnTo>
                    <a:pt x="2753816" y="854237"/>
                  </a:lnTo>
                  <a:lnTo>
                    <a:pt x="0" y="854237"/>
                  </a:lnTo>
                  <a:close/>
                </a:path>
              </a:pathLst>
            </a:custGeom>
            <a:solidFill>
              <a:srgbClr val="0D1A26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753816" cy="854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27324" y="1286824"/>
            <a:ext cx="6705352" cy="47625"/>
          </a:xfrm>
          <a:custGeom>
            <a:avLst/>
            <a:gdLst/>
            <a:ahLst/>
            <a:cxnLst/>
            <a:rect r="r" b="b" t="t" l="l"/>
            <a:pathLst>
              <a:path h="47625" w="6705352">
                <a:moveTo>
                  <a:pt x="0" y="0"/>
                </a:moveTo>
                <a:lnTo>
                  <a:pt x="6705352" y="0"/>
                </a:lnTo>
                <a:lnTo>
                  <a:pt x="6705352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8394" r="0" b="0"/>
            </a:stretch>
          </a:blipFill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427324" y="3470802"/>
            <a:ext cx="6705352" cy="0"/>
          </a:xfrm>
          <a:prstGeom prst="line">
            <a:avLst/>
          </a:prstGeom>
          <a:ln cap="flat" w="1047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756000" y="3713690"/>
            <a:ext cx="2461194" cy="6607232"/>
          </a:xfrm>
          <a:custGeom>
            <a:avLst/>
            <a:gdLst/>
            <a:ahLst/>
            <a:cxnLst/>
            <a:rect r="r" b="b" t="t" l="l"/>
            <a:pathLst>
              <a:path h="6607232" w="2461194">
                <a:moveTo>
                  <a:pt x="0" y="0"/>
                </a:moveTo>
                <a:lnTo>
                  <a:pt x="2461194" y="0"/>
                </a:lnTo>
                <a:lnTo>
                  <a:pt x="2461194" y="6607232"/>
                </a:lnTo>
                <a:lnTo>
                  <a:pt x="0" y="66072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4289767" y="3713690"/>
            <a:ext cx="2514233" cy="6607232"/>
          </a:xfrm>
          <a:custGeom>
            <a:avLst/>
            <a:gdLst/>
            <a:ahLst/>
            <a:cxnLst/>
            <a:rect r="r" b="b" t="t" l="l"/>
            <a:pathLst>
              <a:path h="6607232" w="2514233">
                <a:moveTo>
                  <a:pt x="0" y="0"/>
                </a:moveTo>
                <a:lnTo>
                  <a:pt x="2514233" y="0"/>
                </a:lnTo>
                <a:lnTo>
                  <a:pt x="2514233" y="6607232"/>
                </a:lnTo>
                <a:lnTo>
                  <a:pt x="0" y="6607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220" r="0" b="-3220"/>
            </a:stretch>
          </a:blipFill>
        </p:spPr>
        <p:txBody>
          <a:bodyPr/>
          <a:p/>
        </p:txBody>
      </p:sp>
      <p:grpSp>
        <p:nvGrpSpPr>
          <p:cNvPr name="Group 15" id="15"/>
          <p:cNvGrpSpPr/>
          <p:nvPr/>
        </p:nvGrpSpPr>
        <p:grpSpPr>
          <a:xfrm rot="0">
            <a:off x="249078" y="1696399"/>
            <a:ext cx="7061844" cy="249074"/>
            <a:chOff x="0" y="0"/>
            <a:chExt cx="9415792" cy="332099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솔직한 마케팅 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377136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김리안 지점장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756238" y="0"/>
              <a:ext cx="2659554" cy="332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4"/>
                </a:lnSpc>
              </a:pPr>
              <a:r>
                <a:rPr lang="en-US" sz="1662">
                  <a:solidFill>
                    <a:srgbClr val="E1E1E1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010-5641-1803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610000" y="195064"/>
            <a:ext cx="2340000" cy="897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5"/>
              </a:lnSpc>
            </a:pPr>
            <a:r>
              <a:rPr lang="en-US" sz="4937">
                <a:solidFill>
                  <a:srgbClr val="E1E1E1"/>
                </a:solidFill>
                <a:latin typeface="Neue Montreal"/>
                <a:ea typeface="Neue Montreal"/>
                <a:cs typeface="Neue Montreal"/>
                <a:sym typeface="Neue Montreal"/>
              </a:rPr>
              <a:t> 포에트리헤어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90124" y="2807444"/>
            <a:ext cx="2779752" cy="53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3"/>
              </a:lnSpc>
            </a:pPr>
            <a:r>
              <a:rPr lang="en-US" b="true" sz="2935">
                <a:solidFill>
                  <a:srgbClr val="0D1A26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네이버 검색 결과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7159" y="6175958"/>
            <a:ext cx="8094318" cy="4812886"/>
            <a:chOff x="0" y="0"/>
            <a:chExt cx="2900821" cy="1724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0821" cy="1724830"/>
            </a:xfrm>
            <a:custGeom>
              <a:avLst/>
              <a:gdLst/>
              <a:ahLst/>
              <a:cxnLst/>
              <a:rect r="r" b="b" t="t" l="l"/>
              <a:pathLst>
                <a:path h="1724830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1724830"/>
                  </a:lnTo>
                  <a:lnTo>
                    <a:pt x="0" y="172483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900821" cy="1724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67159" y="0"/>
            <a:ext cx="8094318" cy="6243132"/>
            <a:chOff x="0" y="0"/>
            <a:chExt cx="2900821" cy="22373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00821" cy="2237398"/>
            </a:xfrm>
            <a:custGeom>
              <a:avLst/>
              <a:gdLst/>
              <a:ahLst/>
              <a:cxnLst/>
              <a:rect r="r" b="b" t="t" l="l"/>
              <a:pathLst>
                <a:path h="2237398" w="2900821">
                  <a:moveTo>
                    <a:pt x="0" y="0"/>
                  </a:moveTo>
                  <a:lnTo>
                    <a:pt x="2900821" y="0"/>
                  </a:lnTo>
                  <a:lnTo>
                    <a:pt x="2900821" y="2237398"/>
                  </a:lnTo>
                  <a:lnTo>
                    <a:pt x="0" y="2237398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900821" cy="2237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993116" y="174502"/>
            <a:ext cx="3573768" cy="692417"/>
          </a:xfrm>
          <a:custGeom>
            <a:avLst/>
            <a:gdLst/>
            <a:ahLst/>
            <a:cxnLst/>
            <a:rect r="r" b="b" t="t" l="l"/>
            <a:pathLst>
              <a:path h="692417" w="3573768">
                <a:moveTo>
                  <a:pt x="0" y="0"/>
                </a:moveTo>
                <a:lnTo>
                  <a:pt x="3573768" y="0"/>
                </a:lnTo>
                <a:lnTo>
                  <a:pt x="3573768" y="692418"/>
                </a:lnTo>
                <a:lnTo>
                  <a:pt x="0" y="6924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9" id="9"/>
          <p:cNvSpPr txBox="true"/>
          <p:nvPr/>
        </p:nvSpPr>
        <p:spPr>
          <a:xfrm rot="0">
            <a:off x="1888337" y="286664"/>
            <a:ext cx="3783325" cy="401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2"/>
              </a:lnSpc>
            </a:pPr>
            <a:r>
              <a:rPr lang="en-US" sz="223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네이버 플레이스 종합 진단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25336" y="1235169"/>
            <a:ext cx="2056754" cy="787209"/>
          </a:xfrm>
          <a:custGeom>
            <a:avLst/>
            <a:gdLst/>
            <a:ahLst/>
            <a:cxnLst/>
            <a:rect r="r" b="b" t="t" l="l"/>
            <a:pathLst>
              <a:path h="787209" w="2056754">
                <a:moveTo>
                  <a:pt x="0" y="0"/>
                </a:moveTo>
                <a:lnTo>
                  <a:pt x="2056754" y="0"/>
                </a:lnTo>
                <a:lnTo>
                  <a:pt x="205675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3457" r="-147290" b="-42632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2682090" y="1235169"/>
            <a:ext cx="4423635" cy="787209"/>
          </a:xfrm>
          <a:custGeom>
            <a:avLst/>
            <a:gdLst/>
            <a:ahLst/>
            <a:cxnLst/>
            <a:rect r="r" b="b" t="t" l="l"/>
            <a:pathLst>
              <a:path h="787209" w="4423635">
                <a:moveTo>
                  <a:pt x="0" y="0"/>
                </a:moveTo>
                <a:lnTo>
                  <a:pt x="4423635" y="0"/>
                </a:lnTo>
                <a:lnTo>
                  <a:pt x="4423635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3457" r="-14977" b="-42632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472705" y="1484826"/>
            <a:ext cx="2264827" cy="24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70092" y="1339493"/>
            <a:ext cx="4867793" cy="723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t>현재 20장의 사진이 등록되어 있습니다.</a:t>
            </a:r>
            <a:br/>
            <a:r>
              <a:t>대표 사진을 마케팅 요소가 담긴 이미지로 최적화하면 더욱 효과적입니다.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72705" y="2205948"/>
            <a:ext cx="6965180" cy="827904"/>
            <a:chOff x="0" y="0"/>
            <a:chExt cx="9286907" cy="11038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348752"/>
              <a:ext cx="3019770" cy="304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대표키워드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네이버는 행정구역(지역기반 시스템)으로 노출되기 때문에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 현재 키워드 설정은 잘 되어 있습니다.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82115" y="5036895"/>
            <a:ext cx="6965180" cy="787209"/>
            <a:chOff x="0" y="0"/>
            <a:chExt cx="9286907" cy="10496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348752"/>
              <a:ext cx="3019770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상품(메뉴) 세팅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796516" y="154974"/>
              <a:ext cx="6490391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세팅이 되어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있으나, 부가적인 설명 보완이 필요합니다.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82115" y="5966980"/>
            <a:ext cx="6965180" cy="827904"/>
            <a:chOff x="0" y="0"/>
            <a:chExt cx="9286907" cy="11038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26" id="2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348752"/>
              <a:ext cx="3019770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예약 세팅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예약 , 톡톡 설정이 안 되어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있습니다.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(방문을 유도할 수 있기 때문에 세팅해주는 것이 좋습니다)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82115" y="6937759"/>
            <a:ext cx="6965180" cy="973237"/>
            <a:chOff x="0" y="0"/>
            <a:chExt cx="9286907" cy="12976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영수증 리뷰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현황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영수증리뷰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없습니다.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검색자는 리뷰를 보고 방문을 하기 때문에 반드시 필요한 작업입니다.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82115" y="7871209"/>
            <a:ext cx="6965180" cy="973237"/>
            <a:chOff x="0" y="0"/>
            <a:chExt cx="9286907" cy="12976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36" id="3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블로그 노출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현황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2796516" y="154974"/>
              <a:ext cx="6490391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블로그가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있으나 링크 삽입 안 되어 있고 최근 게시글 없습니다.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82115" y="8758721"/>
            <a:ext cx="6965180" cy="973237"/>
            <a:chOff x="0" y="0"/>
            <a:chExt cx="9286907" cy="12976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41" id="41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지역 커뮤니티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노출 현황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2796516" y="154974"/>
              <a:ext cx="6490391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플레이스에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링크 삽입이 안 되어 있기 때문에 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설정 여부 확인 후 세팅이 필요합니다.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86820" y="9692171"/>
            <a:ext cx="6965180" cy="973237"/>
            <a:chOff x="0" y="0"/>
            <a:chExt cx="9286907" cy="12976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203508" y="0"/>
              <a:ext cx="2742339" cy="1049612"/>
            </a:xfrm>
            <a:custGeom>
              <a:avLst/>
              <a:gdLst/>
              <a:ahLst/>
              <a:cxnLst/>
              <a:rect r="r" b="b" t="t" l="l"/>
              <a:pathLst>
                <a:path h="1049612" w="2742339">
                  <a:moveTo>
                    <a:pt x="0" y="0"/>
                  </a:moveTo>
                  <a:lnTo>
                    <a:pt x="2742339" y="0"/>
                  </a:lnTo>
                  <a:lnTo>
                    <a:pt x="274233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3457" r="-147290" b="-42632"/>
              </a:stretch>
            </a:blipFill>
          </p:spPr>
          <p:txBody>
            <a:bodyPr/>
            <a:p/>
          </p:txBody>
        </p:sp>
        <p:sp>
          <p:nvSpPr>
            <p:cNvPr name="Freeform 46" id="46"/>
            <p:cNvSpPr/>
            <p:nvPr/>
          </p:nvSpPr>
          <p:spPr>
            <a:xfrm flipH="false" flipV="false" rot="0">
              <a:off x="2945847" y="0"/>
              <a:ext cx="5898179" cy="1049612"/>
            </a:xfrm>
            <a:custGeom>
              <a:avLst/>
              <a:gdLst/>
              <a:ahLst/>
              <a:cxnLst/>
              <a:rect r="r" b="b" t="t" l="l"/>
              <a:pathLst>
                <a:path h="1049612" w="5898179">
                  <a:moveTo>
                    <a:pt x="0" y="0"/>
                  </a:moveTo>
                  <a:lnTo>
                    <a:pt x="5898179" y="0"/>
                  </a:lnTo>
                  <a:lnTo>
                    <a:pt x="5898179" y="1049612"/>
                  </a:lnTo>
                  <a:lnTo>
                    <a:pt x="0" y="1049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3457" r="-14977" b="-42632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 rot="0">
              <a:off x="0" y="348752"/>
              <a:ext cx="3019770" cy="948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외부채널</a:t>
              </a:r>
            </a:p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(인스타</a:t>
              </a:r>
              <a:r>
                <a:rPr lang="en-US" sz="1286">
                  <a:solidFill>
                    <a:srgbClr val="FFFFFF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등)</a:t>
              </a:r>
            </a:p>
            <a:p>
              <a:pPr algn="ctr">
                <a:lnSpc>
                  <a:spcPts val="1929"/>
                </a:lnSpc>
              </a:pP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2796516" y="154974"/>
              <a:ext cx="6490391" cy="626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29"/>
                </a:lnSpc>
              </a:pP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외부채널</a:t>
              </a:r>
              <a:r>
                <a:rPr lang="en-US" sz="1286">
                  <a:solidFill>
                    <a:srgbClr val="000000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 링크 삽입 안 되어 있습니다</a:t>
              </a:r>
            </a:p>
            <a:p>
              <a:pPr algn="ctr">
                <a:lnSpc>
                  <a:spcPts val="1929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634746" y="4106811"/>
            <a:ext cx="2056754" cy="787209"/>
          </a:xfrm>
          <a:custGeom>
            <a:avLst/>
            <a:gdLst/>
            <a:ahLst/>
            <a:cxnLst/>
            <a:rect r="r" b="b" t="t" l="l"/>
            <a:pathLst>
              <a:path h="787209" w="2056754">
                <a:moveTo>
                  <a:pt x="0" y="0"/>
                </a:moveTo>
                <a:lnTo>
                  <a:pt x="2056754" y="0"/>
                </a:lnTo>
                <a:lnTo>
                  <a:pt x="205675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3457" r="-147290" b="-42632"/>
            </a:stretch>
          </a:blipFill>
        </p:spPr>
        <p:txBody>
          <a:bodyPr/>
          <a:p/>
        </p:txBody>
      </p:sp>
      <p:sp>
        <p:nvSpPr>
          <p:cNvPr name="Freeform 50" id="50"/>
          <p:cNvSpPr/>
          <p:nvPr/>
        </p:nvSpPr>
        <p:spPr>
          <a:xfrm flipH="false" flipV="false" rot="0">
            <a:off x="2691500" y="4106811"/>
            <a:ext cx="4423635" cy="787209"/>
          </a:xfrm>
          <a:custGeom>
            <a:avLst/>
            <a:gdLst/>
            <a:ahLst/>
            <a:cxnLst/>
            <a:rect r="r" b="b" t="t" l="l"/>
            <a:pathLst>
              <a:path h="787209" w="4423635">
                <a:moveTo>
                  <a:pt x="0" y="0"/>
                </a:moveTo>
                <a:lnTo>
                  <a:pt x="4423634" y="0"/>
                </a:lnTo>
                <a:lnTo>
                  <a:pt x="442363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3457" r="-14977" b="-42632"/>
            </a:stretch>
          </a:blipFill>
        </p:spPr>
        <p:txBody>
          <a:bodyPr/>
          <a:p/>
        </p:txBody>
      </p:sp>
      <p:sp>
        <p:nvSpPr>
          <p:cNvPr name="TextBox 51" id="51"/>
          <p:cNvSpPr txBox="true"/>
          <p:nvPr/>
        </p:nvSpPr>
        <p:spPr>
          <a:xfrm rot="0">
            <a:off x="482115" y="4356469"/>
            <a:ext cx="2264827" cy="48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알림/이벤트 세팅</a:t>
            </a:r>
          </a:p>
          <a:p>
            <a:pPr algn="ctr">
              <a:lnSpc>
                <a:spcPts val="1929"/>
              </a:lnSpc>
            </a:pPr>
          </a:p>
        </p:txBody>
      </p:sp>
      <p:sp>
        <p:nvSpPr>
          <p:cNvPr name="TextBox 52" id="52"/>
          <p:cNvSpPr txBox="true"/>
          <p:nvPr/>
        </p:nvSpPr>
        <p:spPr>
          <a:xfrm rot="0">
            <a:off x="2579502" y="4120078"/>
            <a:ext cx="4867793" cy="96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t>알림 및 이벤트가 활성화되어 있습니다.</a:t>
            </a:r>
            <a:br/>
            <a:r>
              <a:t>지속적인 업데이트로 고객 재방문을 유도하세요.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634746" y="3176727"/>
            <a:ext cx="2056754" cy="787209"/>
          </a:xfrm>
          <a:custGeom>
            <a:avLst/>
            <a:gdLst/>
            <a:ahLst/>
            <a:cxnLst/>
            <a:rect r="r" b="b" t="t" l="l"/>
            <a:pathLst>
              <a:path h="787209" w="2056754">
                <a:moveTo>
                  <a:pt x="0" y="0"/>
                </a:moveTo>
                <a:lnTo>
                  <a:pt x="2056754" y="0"/>
                </a:lnTo>
                <a:lnTo>
                  <a:pt x="205675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3457" r="-147290" b="-42632"/>
            </a:stretch>
          </a:blipFill>
        </p:spPr>
        <p:txBody>
          <a:bodyPr/>
          <a:p/>
        </p:txBody>
      </p:sp>
      <p:sp>
        <p:nvSpPr>
          <p:cNvPr name="Freeform 54" id="54"/>
          <p:cNvSpPr/>
          <p:nvPr/>
        </p:nvSpPr>
        <p:spPr>
          <a:xfrm flipH="false" flipV="false" rot="0">
            <a:off x="2691500" y="3176727"/>
            <a:ext cx="4423635" cy="787209"/>
          </a:xfrm>
          <a:custGeom>
            <a:avLst/>
            <a:gdLst/>
            <a:ahLst/>
            <a:cxnLst/>
            <a:rect r="r" b="b" t="t" l="l"/>
            <a:pathLst>
              <a:path h="787209" w="4423635">
                <a:moveTo>
                  <a:pt x="0" y="0"/>
                </a:moveTo>
                <a:lnTo>
                  <a:pt x="4423634" y="0"/>
                </a:lnTo>
                <a:lnTo>
                  <a:pt x="4423634" y="787209"/>
                </a:lnTo>
                <a:lnTo>
                  <a:pt x="0" y="787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3457" r="-14977" b="-42632"/>
            </a:stretch>
          </a:blipFill>
        </p:spPr>
        <p:txBody>
          <a:bodyPr/>
          <a:p/>
        </p:txBody>
      </p:sp>
      <p:sp>
        <p:nvSpPr>
          <p:cNvPr name="TextBox 55" id="55"/>
          <p:cNvSpPr txBox="true"/>
          <p:nvPr/>
        </p:nvSpPr>
        <p:spPr>
          <a:xfrm rot="0">
            <a:off x="482115" y="3426384"/>
            <a:ext cx="2264827" cy="48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28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소개/오시는길</a:t>
            </a:r>
          </a:p>
          <a:p>
            <a:pPr algn="ctr">
              <a:lnSpc>
                <a:spcPts val="1929"/>
              </a:lnSpc>
            </a:pPr>
          </a:p>
        </p:txBody>
      </p:sp>
      <p:sp>
        <p:nvSpPr>
          <p:cNvPr name="TextBox 56" id="56"/>
          <p:cNvSpPr txBox="true"/>
          <p:nvPr/>
        </p:nvSpPr>
        <p:spPr>
          <a:xfrm rot="0">
            <a:off x="2579502" y="3202468"/>
            <a:ext cx="4867793" cy="96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t>소개 글이 등록되어 있습니다.</a:t>
            </a:r>
            <a:br/>
            <a:r>
              <a:t>대중교통 및 주차 정보, 키워드 최적화를 통해 더욱 강화하세요.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4968" y="338224"/>
            <a:ext cx="1542885" cy="609632"/>
            <a:chOff x="0" y="0"/>
            <a:chExt cx="552935" cy="218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14888" y="338224"/>
            <a:ext cx="1542885" cy="609632"/>
            <a:chOff x="0" y="0"/>
            <a:chExt cx="552935" cy="218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3F04B4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80075" y="338224"/>
            <a:ext cx="1542885" cy="609632"/>
            <a:chOff x="0" y="0"/>
            <a:chExt cx="552935" cy="218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270370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10079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80000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45187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4968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5144" y="267093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44968" y="3634033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325361" y="4467400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25361" y="530076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25184" y="592743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05401" y="65636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85794" y="7257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85794" y="813832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3012723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5467258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2973156" y="72671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427691" y="727186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973156" y="657042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427691" y="65622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2953373" y="593423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388125" y="591649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933589" y="529804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5368341" y="528982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2913806" y="444810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5368341" y="4438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2894022" y="362426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5348558" y="361449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2854455" y="267416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5348558" y="267892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2854455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328774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05401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305577" y="292068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305401" y="388378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85794" y="4717151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5794" y="5550517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2팀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85617" y="617718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2건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65834" y="681337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2건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46227" y="7507088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46227" y="8388079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973156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1건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427691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2건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2건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933589" y="751685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388125" y="7521620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933589" y="6820179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6건(릴스 1건포함)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88125" y="6811957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12건(릴스 2건포함)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913806" y="618398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6건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348558" y="6166242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12건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894022" y="554779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4팀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328774" y="5539576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8팀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874239" y="469785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328774" y="468808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854455" y="387401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308991" y="386424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814888" y="2923913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1.500건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5308991" y="292867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2.000건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2814888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7" id="67"/>
          <p:cNvSpPr txBox="true"/>
          <p:nvPr/>
        </p:nvSpPr>
        <p:spPr>
          <a:xfrm rot="0">
            <a:off x="5289207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AutoShape 68" id="68"/>
          <p:cNvSpPr/>
          <p:nvPr/>
        </p:nvSpPr>
        <p:spPr>
          <a:xfrm>
            <a:off x="344968" y="947857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69" id="69"/>
          <p:cNvSpPr/>
          <p:nvPr/>
        </p:nvSpPr>
        <p:spPr>
          <a:xfrm>
            <a:off x="2814888" y="952619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0" id="70"/>
          <p:cNvSpPr/>
          <p:nvPr/>
        </p:nvSpPr>
        <p:spPr>
          <a:xfrm>
            <a:off x="5281698" y="943094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1" id="71"/>
          <p:cNvSpPr/>
          <p:nvPr/>
        </p:nvSpPr>
        <p:spPr>
          <a:xfrm flipV="true">
            <a:off x="344968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2" id="72"/>
          <p:cNvSpPr/>
          <p:nvPr/>
        </p:nvSpPr>
        <p:spPr>
          <a:xfrm flipV="true">
            <a:off x="345144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3" id="73"/>
          <p:cNvSpPr/>
          <p:nvPr/>
        </p:nvSpPr>
        <p:spPr>
          <a:xfrm flipV="true">
            <a:off x="344968" y="351497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4" id="74"/>
          <p:cNvSpPr/>
          <p:nvPr/>
        </p:nvSpPr>
        <p:spPr>
          <a:xfrm flipV="true">
            <a:off x="325361" y="4348337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5" id="75"/>
          <p:cNvSpPr/>
          <p:nvPr/>
        </p:nvSpPr>
        <p:spPr>
          <a:xfrm>
            <a:off x="325361" y="518170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6" id="76"/>
          <p:cNvSpPr/>
          <p:nvPr/>
        </p:nvSpPr>
        <p:spPr>
          <a:xfrm>
            <a:off x="325184" y="580836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7" id="77"/>
          <p:cNvSpPr/>
          <p:nvPr/>
        </p:nvSpPr>
        <p:spPr>
          <a:xfrm>
            <a:off x="305401" y="644455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8" id="78"/>
          <p:cNvSpPr/>
          <p:nvPr/>
        </p:nvSpPr>
        <p:spPr>
          <a:xfrm>
            <a:off x="285794" y="71382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9" id="79"/>
          <p:cNvSpPr/>
          <p:nvPr/>
        </p:nvSpPr>
        <p:spPr>
          <a:xfrm>
            <a:off x="285794" y="80192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0" id="80"/>
          <p:cNvSpPr/>
          <p:nvPr/>
        </p:nvSpPr>
        <p:spPr>
          <a:xfrm>
            <a:off x="3012723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1" id="81"/>
          <p:cNvSpPr/>
          <p:nvPr/>
        </p:nvSpPr>
        <p:spPr>
          <a:xfrm>
            <a:off x="5467258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2" id="82"/>
          <p:cNvSpPr/>
          <p:nvPr/>
        </p:nvSpPr>
        <p:spPr>
          <a:xfrm>
            <a:off x="2973156" y="7148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3" id="83"/>
          <p:cNvSpPr/>
          <p:nvPr/>
        </p:nvSpPr>
        <p:spPr>
          <a:xfrm>
            <a:off x="5427691" y="7152806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4" id="84"/>
          <p:cNvSpPr/>
          <p:nvPr/>
        </p:nvSpPr>
        <p:spPr>
          <a:xfrm>
            <a:off x="2973156" y="64513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5" id="85"/>
          <p:cNvSpPr/>
          <p:nvPr/>
        </p:nvSpPr>
        <p:spPr>
          <a:xfrm>
            <a:off x="5427691" y="644314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6" id="86"/>
          <p:cNvSpPr/>
          <p:nvPr/>
        </p:nvSpPr>
        <p:spPr>
          <a:xfrm>
            <a:off x="2953373" y="58151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7" id="87"/>
          <p:cNvSpPr/>
          <p:nvPr/>
        </p:nvSpPr>
        <p:spPr>
          <a:xfrm>
            <a:off x="5388125" y="5797428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8" id="88"/>
          <p:cNvSpPr/>
          <p:nvPr/>
        </p:nvSpPr>
        <p:spPr>
          <a:xfrm>
            <a:off x="2933589" y="517898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9" id="89"/>
          <p:cNvSpPr/>
          <p:nvPr/>
        </p:nvSpPr>
        <p:spPr>
          <a:xfrm>
            <a:off x="5368341" y="517076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0" id="90"/>
          <p:cNvSpPr/>
          <p:nvPr/>
        </p:nvSpPr>
        <p:spPr>
          <a:xfrm flipV="true">
            <a:off x="2913806" y="4329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1" id="91"/>
          <p:cNvSpPr/>
          <p:nvPr/>
        </p:nvSpPr>
        <p:spPr>
          <a:xfrm flipV="true">
            <a:off x="5368341" y="43192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2" id="92"/>
          <p:cNvSpPr/>
          <p:nvPr/>
        </p:nvSpPr>
        <p:spPr>
          <a:xfrm flipV="true">
            <a:off x="2894022" y="350520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3" id="93"/>
          <p:cNvSpPr/>
          <p:nvPr/>
        </p:nvSpPr>
        <p:spPr>
          <a:xfrm flipV="true">
            <a:off x="5348558" y="349543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4" id="94"/>
          <p:cNvSpPr/>
          <p:nvPr/>
        </p:nvSpPr>
        <p:spPr>
          <a:xfrm flipV="true">
            <a:off x="2894022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5" id="95"/>
          <p:cNvSpPr/>
          <p:nvPr/>
        </p:nvSpPr>
        <p:spPr>
          <a:xfrm flipV="true">
            <a:off x="5388125" y="255663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6" id="96"/>
          <p:cNvSpPr/>
          <p:nvPr/>
        </p:nvSpPr>
        <p:spPr>
          <a:xfrm flipV="true">
            <a:off x="2854455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7" id="97"/>
          <p:cNvSpPr/>
          <p:nvPr/>
        </p:nvSpPr>
        <p:spPr>
          <a:xfrm flipV="true">
            <a:off x="5328774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8" id="98"/>
          <p:cNvSpPr/>
          <p:nvPr/>
        </p:nvSpPr>
        <p:spPr>
          <a:xfrm flipV="true">
            <a:off x="246227" y="8944788"/>
            <a:ext cx="6898960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99" id="99"/>
          <p:cNvGrpSpPr/>
          <p:nvPr/>
        </p:nvGrpSpPr>
        <p:grpSpPr>
          <a:xfrm rot="0">
            <a:off x="265834" y="9342613"/>
            <a:ext cx="2089269" cy="1042441"/>
            <a:chOff x="0" y="0"/>
            <a:chExt cx="748747" cy="37358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p/>
          </p:txBody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2620830" y="9342613"/>
            <a:ext cx="2089269" cy="1042441"/>
            <a:chOff x="0" y="0"/>
            <a:chExt cx="748747" cy="373587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3F04B4"/>
            </a:solidFill>
          </p:spPr>
          <p:txBody>
            <a:bodyPr/>
            <a:p/>
          </p:txBody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5043474" y="9340075"/>
            <a:ext cx="2089269" cy="1042441"/>
            <a:chOff x="0" y="0"/>
            <a:chExt cx="748747" cy="373587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270370"/>
            </a:solidFill>
          </p:spPr>
          <p:txBody>
            <a:bodyPr/>
            <a:p/>
          </p:txBody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08" id="108"/>
          <p:cNvSpPr txBox="true"/>
          <p:nvPr/>
        </p:nvSpPr>
        <p:spPr>
          <a:xfrm rot="0">
            <a:off x="345144" y="9473319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2700141" y="9473319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5122785" y="9470782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310079" y="10083025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560,000~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3665076" y="10083025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860,000~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6087720" y="10080488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1,270,000~</a:t>
            </a:r>
          </a:p>
        </p:txBody>
      </p:sp>
      <p:sp>
        <p:nvSpPr>
          <p:cNvPr name="AutoShape 114" id="114"/>
          <p:cNvSpPr/>
          <p:nvPr/>
        </p:nvSpPr>
        <p:spPr>
          <a:xfrm flipV="true">
            <a:off x="915489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15" id="115"/>
          <p:cNvSpPr/>
          <p:nvPr/>
        </p:nvSpPr>
        <p:spPr>
          <a:xfrm flipV="true">
            <a:off x="3270486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16" id="116"/>
          <p:cNvSpPr/>
          <p:nvPr/>
        </p:nvSpPr>
        <p:spPr>
          <a:xfrm flipV="true">
            <a:off x="5693130" y="9461257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4968" y="338224"/>
            <a:ext cx="1542885" cy="609632"/>
            <a:chOff x="0" y="0"/>
            <a:chExt cx="552935" cy="218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p/>
          </p:txBody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14888" y="338224"/>
            <a:ext cx="1542885" cy="609632"/>
            <a:chOff x="0" y="0"/>
            <a:chExt cx="552935" cy="2184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3F04B4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80075" y="338224"/>
            <a:ext cx="1542885" cy="609632"/>
            <a:chOff x="0" y="0"/>
            <a:chExt cx="552935" cy="218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2935" cy="218479"/>
            </a:xfrm>
            <a:custGeom>
              <a:avLst/>
              <a:gdLst/>
              <a:ahLst/>
              <a:cxnLst/>
              <a:rect r="r" b="b" t="t" l="l"/>
              <a:pathLst>
                <a:path h="218479" w="552935">
                  <a:moveTo>
                    <a:pt x="0" y="0"/>
                  </a:moveTo>
                  <a:lnTo>
                    <a:pt x="552935" y="0"/>
                  </a:lnTo>
                  <a:lnTo>
                    <a:pt x="552935" y="218479"/>
                  </a:lnTo>
                  <a:lnTo>
                    <a:pt x="0" y="218479"/>
                  </a:lnTo>
                  <a:close/>
                </a:path>
              </a:pathLst>
            </a:custGeom>
            <a:solidFill>
              <a:srgbClr val="270370"/>
            </a:solid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552935" cy="218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10079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80000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45187" y="480163"/>
            <a:ext cx="180000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2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4968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5144" y="267093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44968" y="3634033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325361" y="4467400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325361" y="530076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25184" y="592743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05401" y="65636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85794" y="7257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285794" y="813832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3012723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5467258" y="811952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침투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2973156" y="72671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427691" y="7271868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커뮤니티 개설 및 단골 관리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973156" y="657042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5427691" y="656220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SNS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2953373" y="5934237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388125" y="5916491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블로그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933589" y="529804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5368341" y="528982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체험단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2913806" y="444810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5368341" y="4438336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2894022" y="362426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5348558" y="3614495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리뷰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2854455" y="2674162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5348558" y="2678924"/>
            <a:ext cx="1622019" cy="25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활성화 지원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2854455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328774" y="1522755"/>
            <a:ext cx="1622019" cy="13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"/>
              </a:lnSpc>
            </a:pPr>
            <a:r>
              <a:rPr lang="en-US" sz="915" b="true">
                <a:solidFill>
                  <a:srgbClr val="5E17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N플레이스 최적화 세팅 지원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05401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305577" y="292068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305401" y="388378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85794" y="4717151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월3건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5794" y="5550517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2팀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85617" y="617718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2건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65834" y="6813373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2건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46227" y="7507088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46227" y="8388079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973156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1건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1건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427691" y="8369273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게시글 침투 2건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맘카페 침투 2건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933589" y="751685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388125" y="7521620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카카오채널 이벤트/프로모션 알림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당근 지역 고객 타게팅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933589" y="6820179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6건(릴스 1건포함)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388125" y="6811957"/>
            <a:ext cx="1622019" cy="265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인스타 컨텐츠 월 12건(릴스 2건포함)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913806" y="618398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6건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348558" y="6166242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지수 : 월 12건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894022" y="5547798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4팀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328774" y="5539576"/>
            <a:ext cx="1622019" cy="138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준최 이상 : 월 8팀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874239" y="469785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328774" y="4688087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854455" y="3874015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월8건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308991" y="3864246"/>
            <a:ext cx="1622019" cy="39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영수증 및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자 리뷰 월12건</a:t>
            </a:r>
          </a:p>
          <a:p>
            <a:pPr algn="l">
              <a:lnSpc>
                <a:spcPts val="1007"/>
              </a:lnSpc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814888" y="2923913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1.500건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5308991" y="2928676"/>
            <a:ext cx="1622019" cy="52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플레이스 방문수 월 2.000건</a:t>
            </a:r>
          </a:p>
          <a:p>
            <a:pPr algn="l">
              <a:lnSpc>
                <a:spcPts val="1007"/>
              </a:lnSpc>
            </a:pP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즐겨찾기(저장)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2814888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TextBox 67" id="67"/>
          <p:cNvSpPr txBox="true"/>
          <p:nvPr/>
        </p:nvSpPr>
        <p:spPr>
          <a:xfrm rot="0">
            <a:off x="5289207" y="1772506"/>
            <a:ext cx="1622019" cy="7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대표사진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대표키워드 설정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소식/알림/</a:t>
            </a: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이벤트 세팅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스마트콜/톡톡 점검</a:t>
            </a:r>
          </a:p>
          <a:p>
            <a:pPr algn="l" marL="197647" indent="-98824" lvl="1">
              <a:lnSpc>
                <a:spcPts val="1007"/>
              </a:lnSpc>
              <a:buFont typeface="Arial"/>
              <a:buChar char="•"/>
            </a:pPr>
            <a:r>
              <a:rPr lang="en-US" sz="91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예약 세팅</a:t>
            </a:r>
          </a:p>
          <a:p>
            <a:pPr algn="l">
              <a:lnSpc>
                <a:spcPts val="1007"/>
              </a:lnSpc>
            </a:pPr>
          </a:p>
        </p:txBody>
      </p:sp>
      <p:sp>
        <p:nvSpPr>
          <p:cNvPr name="AutoShape 68" id="68"/>
          <p:cNvSpPr/>
          <p:nvPr/>
        </p:nvSpPr>
        <p:spPr>
          <a:xfrm>
            <a:off x="344968" y="947857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69" id="69"/>
          <p:cNvSpPr/>
          <p:nvPr/>
        </p:nvSpPr>
        <p:spPr>
          <a:xfrm>
            <a:off x="2814888" y="952619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0" id="70"/>
          <p:cNvSpPr/>
          <p:nvPr/>
        </p:nvSpPr>
        <p:spPr>
          <a:xfrm>
            <a:off x="5281698" y="943094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1" id="71"/>
          <p:cNvSpPr/>
          <p:nvPr/>
        </p:nvSpPr>
        <p:spPr>
          <a:xfrm flipV="true">
            <a:off x="344968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2" id="72"/>
          <p:cNvSpPr/>
          <p:nvPr/>
        </p:nvSpPr>
        <p:spPr>
          <a:xfrm flipV="true">
            <a:off x="345144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3" id="73"/>
          <p:cNvSpPr/>
          <p:nvPr/>
        </p:nvSpPr>
        <p:spPr>
          <a:xfrm flipV="true">
            <a:off x="344968" y="351497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4" id="74"/>
          <p:cNvSpPr/>
          <p:nvPr/>
        </p:nvSpPr>
        <p:spPr>
          <a:xfrm flipV="true">
            <a:off x="325361" y="4348337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5" id="75"/>
          <p:cNvSpPr/>
          <p:nvPr/>
        </p:nvSpPr>
        <p:spPr>
          <a:xfrm>
            <a:off x="325361" y="518170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6" id="76"/>
          <p:cNvSpPr/>
          <p:nvPr/>
        </p:nvSpPr>
        <p:spPr>
          <a:xfrm>
            <a:off x="325184" y="580836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7" id="77"/>
          <p:cNvSpPr/>
          <p:nvPr/>
        </p:nvSpPr>
        <p:spPr>
          <a:xfrm>
            <a:off x="305401" y="6444559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8" id="78"/>
          <p:cNvSpPr/>
          <p:nvPr/>
        </p:nvSpPr>
        <p:spPr>
          <a:xfrm>
            <a:off x="285794" y="71382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9" id="79"/>
          <p:cNvSpPr/>
          <p:nvPr/>
        </p:nvSpPr>
        <p:spPr>
          <a:xfrm>
            <a:off x="285794" y="80192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0" id="80"/>
          <p:cNvSpPr/>
          <p:nvPr/>
        </p:nvSpPr>
        <p:spPr>
          <a:xfrm>
            <a:off x="3012723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1" id="81"/>
          <p:cNvSpPr/>
          <p:nvPr/>
        </p:nvSpPr>
        <p:spPr>
          <a:xfrm>
            <a:off x="5467258" y="8000460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2" id="82"/>
          <p:cNvSpPr/>
          <p:nvPr/>
        </p:nvSpPr>
        <p:spPr>
          <a:xfrm>
            <a:off x="2973156" y="7148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3" id="83"/>
          <p:cNvSpPr/>
          <p:nvPr/>
        </p:nvSpPr>
        <p:spPr>
          <a:xfrm>
            <a:off x="5427691" y="7152806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4" id="84"/>
          <p:cNvSpPr/>
          <p:nvPr/>
        </p:nvSpPr>
        <p:spPr>
          <a:xfrm>
            <a:off x="2973156" y="645136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5" id="85"/>
          <p:cNvSpPr/>
          <p:nvPr/>
        </p:nvSpPr>
        <p:spPr>
          <a:xfrm>
            <a:off x="5427691" y="644314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6" id="86"/>
          <p:cNvSpPr/>
          <p:nvPr/>
        </p:nvSpPr>
        <p:spPr>
          <a:xfrm>
            <a:off x="2953373" y="581517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7" id="87"/>
          <p:cNvSpPr/>
          <p:nvPr/>
        </p:nvSpPr>
        <p:spPr>
          <a:xfrm>
            <a:off x="5388125" y="5797428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8" id="88"/>
          <p:cNvSpPr/>
          <p:nvPr/>
        </p:nvSpPr>
        <p:spPr>
          <a:xfrm>
            <a:off x="2933589" y="5178984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9" id="89"/>
          <p:cNvSpPr/>
          <p:nvPr/>
        </p:nvSpPr>
        <p:spPr>
          <a:xfrm>
            <a:off x="5368341" y="517076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0" id="90"/>
          <p:cNvSpPr/>
          <p:nvPr/>
        </p:nvSpPr>
        <p:spPr>
          <a:xfrm flipV="true">
            <a:off x="2913806" y="432904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1" id="91"/>
          <p:cNvSpPr/>
          <p:nvPr/>
        </p:nvSpPr>
        <p:spPr>
          <a:xfrm flipV="true">
            <a:off x="5368341" y="43192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2" id="92"/>
          <p:cNvSpPr/>
          <p:nvPr/>
        </p:nvSpPr>
        <p:spPr>
          <a:xfrm flipV="true">
            <a:off x="2894022" y="3505201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3" id="93"/>
          <p:cNvSpPr/>
          <p:nvPr/>
        </p:nvSpPr>
        <p:spPr>
          <a:xfrm flipV="true">
            <a:off x="5348558" y="3495432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4" id="94"/>
          <p:cNvSpPr/>
          <p:nvPr/>
        </p:nvSpPr>
        <p:spPr>
          <a:xfrm flipV="true">
            <a:off x="2894022" y="255187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5" id="95"/>
          <p:cNvSpPr/>
          <p:nvPr/>
        </p:nvSpPr>
        <p:spPr>
          <a:xfrm flipV="true">
            <a:off x="5388125" y="2556635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6" id="96"/>
          <p:cNvSpPr/>
          <p:nvPr/>
        </p:nvSpPr>
        <p:spPr>
          <a:xfrm flipV="true">
            <a:off x="2854455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7" id="97"/>
          <p:cNvSpPr/>
          <p:nvPr/>
        </p:nvSpPr>
        <p:spPr>
          <a:xfrm flipV="true">
            <a:off x="5328774" y="1403693"/>
            <a:ext cx="77144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98" id="98"/>
          <p:cNvSpPr/>
          <p:nvPr/>
        </p:nvSpPr>
        <p:spPr>
          <a:xfrm flipV="true">
            <a:off x="246227" y="8944788"/>
            <a:ext cx="6898960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99" id="99"/>
          <p:cNvGrpSpPr/>
          <p:nvPr/>
        </p:nvGrpSpPr>
        <p:grpSpPr>
          <a:xfrm rot="0">
            <a:off x="265834" y="9342613"/>
            <a:ext cx="2089269" cy="1042441"/>
            <a:chOff x="0" y="0"/>
            <a:chExt cx="748747" cy="37358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p/>
          </p:txBody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2620830" y="9342613"/>
            <a:ext cx="2089269" cy="1042441"/>
            <a:chOff x="0" y="0"/>
            <a:chExt cx="748747" cy="373587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3F04B4"/>
            </a:solidFill>
          </p:spPr>
          <p:txBody>
            <a:bodyPr/>
            <a:p/>
          </p:txBody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5043474" y="9340075"/>
            <a:ext cx="2089269" cy="1042441"/>
            <a:chOff x="0" y="0"/>
            <a:chExt cx="748747" cy="373587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748747" cy="373587"/>
            </a:xfrm>
            <a:custGeom>
              <a:avLst/>
              <a:gdLst/>
              <a:ahLst/>
              <a:cxnLst/>
              <a:rect r="r" b="b" t="t" l="l"/>
              <a:pathLst>
                <a:path h="373587" w="748747">
                  <a:moveTo>
                    <a:pt x="0" y="0"/>
                  </a:moveTo>
                  <a:lnTo>
                    <a:pt x="748747" y="0"/>
                  </a:lnTo>
                  <a:lnTo>
                    <a:pt x="748747" y="373587"/>
                  </a:lnTo>
                  <a:lnTo>
                    <a:pt x="0" y="373587"/>
                  </a:lnTo>
                  <a:close/>
                </a:path>
              </a:pathLst>
            </a:custGeom>
            <a:solidFill>
              <a:srgbClr val="270370"/>
            </a:solidFill>
          </p:spPr>
          <p:txBody>
            <a:bodyPr/>
            <a:p/>
          </p:txBody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748747" cy="373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108" id="108"/>
          <p:cNvSpPr txBox="true"/>
          <p:nvPr/>
        </p:nvSpPr>
        <p:spPr>
          <a:xfrm rot="0">
            <a:off x="345144" y="9473319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시선패키지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325184" y="10109732"/>
            <a:ext cx="853839" cy="12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"/>
              </a:lnSpc>
            </a:pPr>
            <a:r>
              <a:rPr lang="en-US" sz="79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(2년 이상 거래처)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2746161" y="10096494"/>
            <a:ext cx="853839" cy="12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"/>
              </a:lnSpc>
            </a:pPr>
            <a:r>
              <a:rPr lang="en-US" sz="79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(2년 이상 거래처)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5197678" y="10109732"/>
            <a:ext cx="853839" cy="120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"/>
              </a:lnSpc>
            </a:pPr>
            <a:r>
              <a:rPr lang="en-US" sz="795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(2년 이상 거래처)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2700141" y="9473319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집중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5122785" y="9470782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</a:t>
            </a: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패키지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310079" y="9783441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560,000~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307527" y="10080488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380,000~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3665465" y="9783441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860,000~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3665465" y="10067250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560,000~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6081699" y="9849841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1,270,000~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6088108" y="10080488"/>
            <a:ext cx="979928" cy="18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30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950,000~</a:t>
            </a:r>
          </a:p>
        </p:txBody>
      </p:sp>
      <p:sp>
        <p:nvSpPr>
          <p:cNvPr name="AutoShape 120" id="120"/>
          <p:cNvSpPr/>
          <p:nvPr/>
        </p:nvSpPr>
        <p:spPr>
          <a:xfrm flipV="true">
            <a:off x="915489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21" id="121"/>
          <p:cNvSpPr/>
          <p:nvPr/>
        </p:nvSpPr>
        <p:spPr>
          <a:xfrm flipV="true">
            <a:off x="3270486" y="9463794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22" id="122"/>
          <p:cNvSpPr/>
          <p:nvPr/>
        </p:nvSpPr>
        <p:spPr>
          <a:xfrm flipV="true">
            <a:off x="5693130" y="9461257"/>
            <a:ext cx="283494" cy="35828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700141" y="977341"/>
            <a:ext cx="2010135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3" id="3"/>
          <p:cNvSpPr/>
          <p:nvPr/>
        </p:nvSpPr>
        <p:spPr>
          <a:xfrm>
            <a:off x="1414823" y="2409582"/>
            <a:ext cx="4938802" cy="0"/>
          </a:xfrm>
          <a:prstGeom prst="line">
            <a:avLst/>
          </a:prstGeom>
          <a:ln cap="flat" w="2857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4" id="4"/>
          <p:cNvSpPr/>
          <p:nvPr/>
        </p:nvSpPr>
        <p:spPr>
          <a:xfrm>
            <a:off x="1440000" y="6992773"/>
            <a:ext cx="4938802" cy="0"/>
          </a:xfrm>
          <a:prstGeom prst="line">
            <a:avLst/>
          </a:prstGeom>
          <a:ln cap="flat" w="2857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5" id="5"/>
          <p:cNvSpPr/>
          <p:nvPr/>
        </p:nvSpPr>
        <p:spPr>
          <a:xfrm>
            <a:off x="1476581" y="8160568"/>
            <a:ext cx="4938802" cy="0"/>
          </a:xfrm>
          <a:prstGeom prst="line">
            <a:avLst/>
          </a:prstGeom>
          <a:ln cap="flat" w="2857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6" id="6"/>
          <p:cNvSpPr/>
          <p:nvPr/>
        </p:nvSpPr>
        <p:spPr>
          <a:xfrm>
            <a:off x="1440000" y="4578909"/>
            <a:ext cx="493880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7" id="7"/>
          <p:cNvSpPr/>
          <p:nvPr/>
        </p:nvSpPr>
        <p:spPr>
          <a:xfrm>
            <a:off x="1476581" y="6045379"/>
            <a:ext cx="4938802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8" id="8"/>
          <p:cNvSpPr/>
          <p:nvPr/>
        </p:nvSpPr>
        <p:spPr>
          <a:xfrm flipV="true">
            <a:off x="291518" y="9826838"/>
            <a:ext cx="6898960" cy="0"/>
          </a:xfrm>
          <a:prstGeom prst="line">
            <a:avLst/>
          </a:prstGeom>
          <a:ln cap="flat" w="9525">
            <a:solidFill>
              <a:srgbClr val="0D1A2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0">
            <a:off x="6051517" y="191937"/>
            <a:ext cx="830552" cy="740268"/>
            <a:chOff x="0" y="0"/>
            <a:chExt cx="1107403" cy="987024"/>
          </a:xfrm>
        </p:grpSpPr>
        <p:sp>
          <p:nvSpPr>
            <p:cNvPr name="AutoShape 10" id="10"/>
            <p:cNvSpPr/>
            <p:nvPr/>
          </p:nvSpPr>
          <p:spPr>
            <a:xfrm flipV="true">
              <a:off x="0" y="12700"/>
              <a:ext cx="1107403" cy="0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AutoShape 11" id="11"/>
            <p:cNvSpPr/>
            <p:nvPr/>
          </p:nvSpPr>
          <p:spPr>
            <a:xfrm>
              <a:off x="0" y="318455"/>
              <a:ext cx="1107403" cy="0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AutoShape 12" id="12"/>
            <p:cNvSpPr/>
            <p:nvPr/>
          </p:nvSpPr>
          <p:spPr>
            <a:xfrm>
              <a:off x="0" y="974324"/>
              <a:ext cx="1107403" cy="0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AutoShape 13" id="13"/>
            <p:cNvSpPr/>
            <p:nvPr/>
          </p:nvSpPr>
          <p:spPr>
            <a:xfrm flipV="true">
              <a:off x="12700" y="12700"/>
              <a:ext cx="0" cy="974324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AutoShape 14" id="14"/>
            <p:cNvSpPr/>
            <p:nvPr/>
          </p:nvSpPr>
          <p:spPr>
            <a:xfrm flipV="true">
              <a:off x="1094703" y="12700"/>
              <a:ext cx="0" cy="974324"/>
            </a:xfrm>
            <a:prstGeom prst="line">
              <a:avLst/>
            </a:prstGeom>
            <a:ln cap="flat" w="25400">
              <a:solidFill>
                <a:srgbClr val="0D1A26"/>
              </a:solidFill>
              <a:prstDash val="solid"/>
              <a:headEnd type="none" len="sm" w="sm"/>
              <a:tailEnd type="none" len="sm" w="sm"/>
            </a:ln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6298" y="78317"/>
              <a:ext cx="472263" cy="1840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3"/>
                </a:lnSpc>
              </a:pPr>
              <a:r>
                <a:rPr lang="en-US" sz="957">
                  <a:solidFill>
                    <a:srgbClr val="0D1A26"/>
                  </a:solidFill>
                  <a:latin typeface="Neue Montreal"/>
                  <a:ea typeface="Neue Montreal"/>
                  <a:cs typeface="Neue Montreal"/>
                  <a:sym typeface="Neue Montreal"/>
                </a:rPr>
                <a:t>계약자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46404" y="0"/>
            <a:ext cx="768419" cy="768419"/>
          </a:xfrm>
          <a:custGeom>
            <a:avLst/>
            <a:gdLst/>
            <a:ahLst/>
            <a:cxnLst/>
            <a:rect r="r" b="b" t="t" l="l"/>
            <a:pathLst>
              <a:path h="768419" w="768419">
                <a:moveTo>
                  <a:pt x="0" y="0"/>
                </a:moveTo>
                <a:lnTo>
                  <a:pt x="768419" y="0"/>
                </a:lnTo>
                <a:lnTo>
                  <a:pt x="768419" y="768419"/>
                </a:lnTo>
                <a:lnTo>
                  <a:pt x="0" y="768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344968" y="221354"/>
            <a:ext cx="309580" cy="281939"/>
          </a:xfrm>
          <a:custGeom>
            <a:avLst/>
            <a:gdLst/>
            <a:ahLst/>
            <a:cxnLst/>
            <a:rect r="r" b="b" t="t" l="l"/>
            <a:pathLst>
              <a:path h="281939" w="309580">
                <a:moveTo>
                  <a:pt x="0" y="0"/>
                </a:moveTo>
                <a:lnTo>
                  <a:pt x="309580" y="0"/>
                </a:lnTo>
                <a:lnTo>
                  <a:pt x="309580" y="281939"/>
                </a:lnTo>
                <a:lnTo>
                  <a:pt x="0" y="281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8" id="18"/>
          <p:cNvSpPr txBox="true"/>
          <p:nvPr/>
        </p:nvSpPr>
        <p:spPr>
          <a:xfrm rot="0">
            <a:off x="2713338" y="581121"/>
            <a:ext cx="1976187" cy="31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4"/>
              </a:lnSpc>
            </a:pPr>
            <a:r>
              <a:rPr lang="en-US" sz="219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추천 항목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36015" y="1072494"/>
            <a:ext cx="409967" cy="137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5"/>
              </a:lnSpc>
            </a:pPr>
            <a:r>
              <a:rPr lang="en-US" sz="968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포에트리헤어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5144" y="2156834"/>
            <a:ext cx="1169959" cy="181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1258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마케팅 서비스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64991" y="2141653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Project Scope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662800" y="7518292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Subtotal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564991" y="2818824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네이버 최적화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2713338" y="2739388"/>
            <a:ext cx="3785197" cy="1549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플레이스 방문, 저장                              월1500건                                   주목패키지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-플레이스 최적화 기획                            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-매장 사진 및 영상촬영                            1세트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블로그 기자단&amp;체험단(고급)                15건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체험단                                                        4건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- 맘 카페 침투                                              1회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602927" y="4869421"/>
            <a:ext cx="3785197" cy="206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SNS 최적화                       -인스타그램 피드                                       6회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-당근 게시물 침투                                      1건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 -당근 비즈채널 개설                                세팅관리</a:t>
            </a: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</a:t>
            </a: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 -카카오채널 개설                                     세팅관리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602927" y="6183697"/>
            <a:ext cx="3785197" cy="167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사진 및 영상촬영              별도 항목 ( 릴스 , 쇼츠 , 클립 제작 시)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비고                                      체험단 모집 불가시 고급 블로그 리뷰 지원</a:t>
            </a: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953373" y="2141653"/>
            <a:ext cx="857200" cy="26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4"/>
              </a:lnSpc>
            </a:pPr>
            <a:r>
              <a:rPr lang="en-US" sz="92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Project Scope</a:t>
            </a:r>
          </a:p>
          <a:p>
            <a:pPr algn="l">
              <a:lnSpc>
                <a:spcPts val="1014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4471574" y="2156834"/>
            <a:ext cx="300859" cy="25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3"/>
              </a:lnSpc>
            </a:pPr>
            <a:r>
              <a:rPr lang="en-US" sz="90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QTY</a:t>
            </a:r>
          </a:p>
          <a:p>
            <a:pPr algn="l">
              <a:lnSpc>
                <a:spcPts val="993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217912" y="2156834"/>
            <a:ext cx="300859" cy="25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3"/>
              </a:lnSpc>
            </a:pPr>
            <a:r>
              <a:rPr lang="en-US" sz="90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Price</a:t>
            </a:r>
          </a:p>
          <a:p>
            <a:pPr algn="l">
              <a:lnSpc>
                <a:spcPts val="993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6048704" y="2156834"/>
            <a:ext cx="300859" cy="252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3"/>
              </a:lnSpc>
            </a:pPr>
            <a:r>
              <a:rPr lang="en-US" sz="902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Cost</a:t>
            </a:r>
          </a:p>
          <a:p>
            <a:pPr algn="l">
              <a:lnSpc>
                <a:spcPts val="993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6120000" y="1257818"/>
            <a:ext cx="476720" cy="170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8"/>
              </a:lnSpc>
            </a:pPr>
            <a:r>
              <a:rPr lang="en-US" sz="112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포에트리헤어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466793" y="1523359"/>
            <a:ext cx="594833" cy="116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"/>
              </a:lnSpc>
            </a:pPr>
            <a:r>
              <a:rPr lang="en-US" sz="769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견적 2일 유효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56022" y="1257818"/>
            <a:ext cx="476720" cy="170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8"/>
              </a:lnSpc>
            </a:pPr>
            <a:r>
              <a:rPr lang="en-US" sz="1125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귀하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45144" y="7180365"/>
            <a:ext cx="1402460" cy="777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세부 사항 및 특이사항</a:t>
            </a:r>
          </a:p>
          <a:p>
            <a:pPr algn="l">
              <a:lnSpc>
                <a:spcPts val="1214"/>
              </a:lnSpc>
            </a:pPr>
          </a:p>
          <a:p>
            <a:pPr algn="l">
              <a:lnSpc>
                <a:spcPts val="1214"/>
              </a:lnSpc>
            </a:pPr>
          </a:p>
          <a:p>
            <a:pPr algn="l">
              <a:lnSpc>
                <a:spcPts val="828"/>
              </a:lnSpc>
            </a:pPr>
            <a:r>
              <a:rPr lang="en-US" sz="753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6개월 관리 대행 </a:t>
            </a:r>
          </a:p>
          <a:p>
            <a:pPr algn="l">
              <a:lnSpc>
                <a:spcPts val="828"/>
              </a:lnSpc>
            </a:pPr>
          </a:p>
          <a:p>
            <a:pPr algn="l">
              <a:lnSpc>
                <a:spcPts val="828"/>
              </a:lnSpc>
            </a:pPr>
            <a:r>
              <a:rPr lang="en-US" sz="753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부가세 별도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55739" y="9509813"/>
            <a:ext cx="5580487" cy="31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■ 대행인은 마케팅 업무로 알게된 신청인의 제반 정보 사항을 제 3자에게 유출할 수 없습니다.</a:t>
            </a:r>
          </a:p>
          <a:p>
            <a:pPr algn="l">
              <a:lnSpc>
                <a:spcPts val="1214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183723" y="9972000"/>
            <a:ext cx="5580487" cy="24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7"/>
              </a:lnSpc>
            </a:pPr>
            <a:r>
              <a:rPr lang="en-US" sz="86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aderess : 경기도 화성시 지산1길 12-2  C274 E-mail : zenith.l.1803@gmail.com 사업자 등록번호 : 472-05-03624</a:t>
            </a:r>
          </a:p>
          <a:p>
            <a:pPr algn="l">
              <a:lnSpc>
                <a:spcPts val="947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155739" y="10268192"/>
            <a:ext cx="5580487" cy="248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7"/>
              </a:lnSpc>
            </a:pPr>
            <a:r>
              <a:rPr lang="en-US" sz="860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해약정보: 본 상품은 이벤트 가격이 적용 된 상품으로서, 중도 해약 시 정상가를 기준으로 일할 계산하여 환분 됩니다.</a:t>
            </a:r>
          </a:p>
          <a:p>
            <a:pPr algn="l">
              <a:lnSpc>
                <a:spcPts val="947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2746161" y="7400458"/>
            <a:ext cx="5425025" cy="62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월 비용                          ￦ 850,000  (정상가)                   560,000</a:t>
            </a:r>
          </a:p>
          <a:p>
            <a:pPr algn="l">
              <a:lnSpc>
                <a:spcPts val="1214"/>
              </a:lnSpc>
            </a:pPr>
          </a:p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                                                                                                  6개월 보장</a:t>
            </a:r>
          </a:p>
          <a:p>
            <a:pPr algn="l">
              <a:lnSpc>
                <a:spcPts val="1214"/>
              </a:lnSpc>
            </a:pPr>
            <a:r>
              <a:rPr lang="en-US" sz="1104">
                <a:solidFill>
                  <a:srgbClr val="0D1A26"/>
                </a:solidFill>
                <a:latin typeface="Neue Montreal"/>
                <a:ea typeface="Neue Montreal"/>
                <a:cs typeface="Neue Montreal"/>
                <a:sym typeface="Neue Montreal"/>
              </a:rPr>
              <a:t>주목 패키지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721103" y="8470130"/>
            <a:ext cx="3850560" cy="177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1258" b="true">
                <a:solidFill>
                  <a:srgbClr val="0D1A26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합계금액(VAT제외)                                                        3,360,000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DAG-aJTB9Fg</dc:identifier>
  <dcterms:modified xsi:type="dcterms:W3CDTF">2011-08-01T06:04:30Z</dcterms:modified>
  <cp:revision>1</cp:revision>
  <dc:title>Black and Grey Minimalist Company Project Proposal</dc:title>
</cp:coreProperties>
</file>